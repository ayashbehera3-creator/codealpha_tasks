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pic>
        <p:nvPicPr>
          <p:cNvPr id="4" name="Image 0" descr="/home/claude/build/icon_cache/badge_FaUserSecret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1732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MODULE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Attacks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Recognize, Resist &amp; Report Cyber Threats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02920" cy="36576"/>
          </a:xfrm>
          <a:prstGeom prst="rect">
            <a:avLst/>
          </a:prstGeom>
          <a:solidFill>
            <a:srgbClr val="8FB4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Is Real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disguise themselves as trusted sources to steal sensitive data — passwords, credit card numbers, or login credentials.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B3E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build/icon_cache/badge_FaEnvelopeOpenText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83080"/>
            <a:ext cx="1188720" cy="1188720"/>
          </a:xfrm>
          <a:prstGeom prst="rect">
            <a:avLst/>
          </a:prstGeom>
        </p:spPr>
      </p:pic>
      <p:pic>
        <p:nvPicPr>
          <p:cNvPr id="9" name="Image 1" descr="/home/claude/build/icon_cache/badge_FaMasksTheater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" y="41788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Disguise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impersonate banks, tech companies, government agencies, or even colleagues to appear legitimate</a:t>
            </a:r>
            <a:endParaRPr lang="en-US" sz="1050" dirty="0"/>
          </a:p>
        </p:txBody>
      </p:sp>
      <p:pic>
        <p:nvPicPr>
          <p:cNvPr id="13" name="Image 2" descr="/home/claude/build/icon_cache/badge_FaTriangleExclamation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11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1648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474720" y="41788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Manipulation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474720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create panic or excitement — “Your account will be locked!” — to make victims act without thinking</a:t>
            </a:r>
            <a:endParaRPr lang="en-US" sz="1050" dirty="0"/>
          </a:p>
        </p:txBody>
      </p:sp>
      <p:pic>
        <p:nvPicPr>
          <p:cNvPr id="17" name="Image 3" descr="/home/claude/build/icon_cache/badge_FaDatabase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118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7728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00800" y="41788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Harvesting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0" y="44805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capture credentials, financial data, or install malware on the victim’s device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Phishing Emails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often contain telltale signs. Train yourself to spot them before clicking anything.</a:t>
            </a:r>
            <a:endParaRPr lang="en-US" sz="1300" dirty="0"/>
          </a:p>
        </p:txBody>
      </p:sp>
      <p:pic>
        <p:nvPicPr>
          <p:cNvPr id="5" name="Image 0" descr="/home/claude/build/icon_cache/badge_FaCircleExclamation_FFFFFF_028090_512_0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" y="1984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domain is misspelled or mismatched (e.g. support@paypa1.com)</a:t>
            </a:r>
            <a:endParaRPr lang="en-US" sz="1050" dirty="0"/>
          </a:p>
        </p:txBody>
      </p:sp>
      <p:pic>
        <p:nvPicPr>
          <p:cNvPr id="8" name="Image 1" descr="/home/claude/build/icon_cache/badge_FaTriangleExclamation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Urgency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257800" y="1984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now or lose access!” — pressure tactics to bypass critical thinking</a:t>
            </a:r>
            <a:endParaRPr lang="en-US" sz="1050" dirty="0"/>
          </a:p>
        </p:txBody>
      </p:sp>
      <p:pic>
        <p:nvPicPr>
          <p:cNvPr id="11" name="Image 2" descr="/home/claude/build/icon_cache/badge_FaLink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43000" y="31729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— the URL shown doesn’t match the real destination</a:t>
            </a:r>
            <a:endParaRPr lang="en-US" sz="1050" dirty="0"/>
          </a:p>
        </p:txBody>
      </p:sp>
      <p:pic>
        <p:nvPicPr>
          <p:cNvPr id="14" name="Image 3" descr="/home/claude/build/icon_cache/badge_FaPaperclip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260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257800" y="31729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.zip, .exe, or invoice files that install malware when opened</a:t>
            </a:r>
            <a:endParaRPr lang="en-US" sz="1050" dirty="0"/>
          </a:p>
        </p:txBody>
      </p:sp>
      <p:pic>
        <p:nvPicPr>
          <p:cNvPr id="17" name="Image 4" descr="/home/claude/build/icon_cache/badge_FaSpellCheck_FFFFFF_028090_512_0.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148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43000" y="4361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spelling, grammar errors, or awkward phrasing in the message body</a:t>
            </a:r>
            <a:endParaRPr lang="en-US" sz="1050" dirty="0"/>
          </a:p>
        </p:txBody>
      </p:sp>
      <p:pic>
        <p:nvPicPr>
          <p:cNvPr id="20" name="Image 5" descr="/home/claude/build/icon_cache/badge_FaGift_FFFFFF_028090_512_0.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11480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 Offers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257800" y="4361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of prizes, refunds, or exclusive deals that seem implausible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Be Fooled by a Polished Look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websites can look nearly identical to real ones. Here’s how to verify you’re on a legitimate site before entering any data.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965960"/>
            <a:ext cx="2286000" cy="2651760"/>
          </a:xfrm>
          <a:prstGeom prst="roundRect">
            <a:avLst>
              <a:gd name="adj" fmla="val 3200"/>
            </a:avLst>
          </a:prstGeom>
          <a:solidFill>
            <a:srgbClr val="1B3E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build/icon_cache/badge_FaGlobe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697480"/>
            <a:ext cx="1097280" cy="1097280"/>
          </a:xfrm>
          <a:prstGeom prst="rect">
            <a:avLst/>
          </a:prstGeom>
        </p:spPr>
      </p:pic>
      <p:pic>
        <p:nvPicPr>
          <p:cNvPr id="8" name="Image 1" descr="/home/claude/build/icon_cache/badge_FaMagnifyingGlass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385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3000" y="22219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subtle misspellings: arnazon.com or paypa1.com. Always confirm the domain name matches the real company exactly.</a:t>
            </a:r>
            <a:endParaRPr lang="en-US" sz="1000" dirty="0"/>
          </a:p>
        </p:txBody>
      </p:sp>
      <p:pic>
        <p:nvPicPr>
          <p:cNvPr id="11" name="Image 2" descr="/home/claude/build/icon_cache/badge_FaLock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243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HTTPS &amp; Certificate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43000" y="29077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is a good sign, but not a guarantee. Phishers can get SSL certificates too — always verify the full domain, not just the padlock.</a:t>
            </a:r>
            <a:endParaRPr lang="en-US" sz="1000" dirty="0"/>
          </a:p>
        </p:txBody>
      </p:sp>
      <p:pic>
        <p:nvPicPr>
          <p:cNvPr id="14" name="Image 3" descr="/home/claude/build/icon_cache/badge_FaFileLines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3756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3101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Page Content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43000" y="35935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images, broken links, missing privacy policies, or generic “Contact Us” pages with no real address are major red flags.</a:t>
            </a:r>
            <a:endParaRPr lang="en-US" sz="1000" dirty="0"/>
          </a:p>
        </p:txBody>
      </p:sp>
      <p:pic>
        <p:nvPicPr>
          <p:cNvPr id="17" name="Image 4" descr="/home/claude/build/icon_cache/badge_FaMagnifyingGlassLocation_FFFFFF_028090_512_0.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9959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URL Scanner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43000" y="42793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Google Safe Browsing or VirusTotal can check whether a URL is known to be malicious before you visit it.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build/icon_cache/badge_FaUserTie_FFFFFF_028090_512_0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35915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fabricates a convincing backstory — posing as IT support, a bank agent, or a delivery service — to extract information or access.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claude/build/icon_cache/badge_FaBullseye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54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35915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using personal details (your name, job title, coworkers) gathered from LinkedIn or social media to appear credible.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943600" y="137160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/home/claude/build/icon_cache/badge_FaFish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26480" y="235915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and senior leaders — attackers impersonate CEOs or legal teams to authorize wire transfers or data dumps.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1897380" y="315468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/home/claude/build/icon_cache/badge_FaPhone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33375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8026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&amp; Smishing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080260" y="4142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(phone calls) and SMS phishing (text messages) use real-sounding scenarios — “Your card has been charged” — to steal data.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94860" y="3154680"/>
            <a:ext cx="2514600" cy="1600200"/>
          </a:xfrm>
          <a:prstGeom prst="roundRect">
            <a:avLst>
              <a:gd name="adj" fmla="val 4000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/home/claude/build/icon_cache/badge_FaUsb_FFFFFF_028090_512_0.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33375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77740" y="3886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777740" y="414223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 digital lures — like a found USB drive or a free movie download — that, when used, install malware on the victim’s device.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in the Wild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real-world scenarios illustrate how phishing attacks play out across different industries and contexts.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B3E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uild/icon_cache/badge_FaBuildingColumns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9659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Impersonation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send emails mimicking major banks, warning of “suspicious activity.” Victims click a link to a fake login page and hand over their credentials.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B3E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/home/claude/build/icon_cache/badge_FaMoneyBillTransfer_02C39A_028090_512_0.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9659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(BEC)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66160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CFO receives an email appearing to be from the CEO requesting an urgent wire transfer. The attacker spoofed the CEO’s email address to perfection.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B3E4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/home/claude/build/icon_cache/badge_FaTruck_02C39A_028090_512_0.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96596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Delivery Notifications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0" y="3291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message claims “your package is on hold — click here to reschedule.” The link leads to a fake courier site harvesting credit card details.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Protect Yourself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Defense Checklist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 few consistent habits dramatically reduces your risk of falling victim to a phishing attack.</a:t>
            </a:r>
            <a:endParaRPr lang="en-US" sz="1250" dirty="0"/>
          </a:p>
        </p:txBody>
      </p:sp>
      <p:pic>
        <p:nvPicPr>
          <p:cNvPr id="6" name="Image 0" descr="/home/claude/build/icon_cache/badge_FaComputerMouse_FFFFFF_028090_512_0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links in unsolicited emails. Go directly to the official website by typing the URL in your browser.</a:t>
            </a:r>
            <a:endParaRPr lang="en-US" sz="1000" dirty="0"/>
          </a:p>
        </p:txBody>
      </p:sp>
      <p:pic>
        <p:nvPicPr>
          <p:cNvPr id="10" name="Image 1" descr="/home/claude/build/icon_cache/badge_FaKey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202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0368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3440" y="2514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63440" y="28529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credentials are stolen, MFA adds a second layer that prevents unauthorized access to your accounts.</a:t>
            </a:r>
            <a:endParaRPr lang="en-US" sz="1000" dirty="0"/>
          </a:p>
        </p:txBody>
      </p:sp>
      <p:pic>
        <p:nvPicPr>
          <p:cNvPr id="14" name="Image 2" descr="/home/claude/build/icon_cache/badge_FaArrowsRotate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4864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44074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fix vulnerabilities that phishing-delivered malware exploits. Enable automatic updates on all devices.</a:t>
            </a:r>
            <a:endParaRPr lang="en-US" sz="1000" dirty="0"/>
          </a:p>
        </p:txBody>
      </p:sp>
      <p:pic>
        <p:nvPicPr>
          <p:cNvPr id="18" name="Image 3" descr="/home/claude/build/icon_cache/badge_FaFlag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4747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0368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66344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Report Suspicious Messages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663440" y="44074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call the sender directly using a known number. Report phishing attempts to your IT team or to reportphishing@apwg.org.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Phish — Test Your Knowledge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and decide: Phishing or Legitimate? Think carefully before checking the answer.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build/icon_cache/badge_FaCircleQuestion_FFFFFF_028090_512_0.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email from support@amaz0n-help.net saying your order is delayed and asking you to verify your payment info via a link.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361188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1B3E44"/>
          </a:solidFill>
          <a:ln/>
        </p:spPr>
      </p:sp>
      <p:pic>
        <p:nvPicPr>
          <p:cNvPr id="10" name="Image 1" descr="/home/claude/build/icon_cache/badge_FaTriangleExclamation_FFFFFF_E4572E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— The domain “amaz0n-help.net” is not Amazon’s real domain. Legitimate companies never ask for payment info via email links.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83280" y="16459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/home/claude/build/icon_cache/badge_FaCircleQuestion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6052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6616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 department sends a company-wide email from it@yourcompany.com announcing scheduled maintenance this weekend — no links or attachments included.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566160" y="361188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1B3E44"/>
          </a:solidFill>
          <a:ln/>
        </p:spPr>
      </p:sp>
      <p:pic>
        <p:nvPicPr>
          <p:cNvPr id="17" name="Image 3" descr="/home/claude/build/icon_cache/badge_FaCircleCheck_FFFFFF_02C39A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7490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6052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LEGITIMATE — The sender domain matches your company, no suspicious links are present, and the message requests no sensitive action.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217920" y="164592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4" descr="/home/claude/build/icon_cache/badge_FaCircleQuestion_FFFFFF_028090_512_0.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9516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40080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text message: “URGENT: Your Netflix account is suspended. Update your billing at netflix-secure-update.com immediately.”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400800" y="361188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1B3E44"/>
          </a:solidFill>
          <a:ln/>
        </p:spPr>
      </p:sp>
      <p:pic>
        <p:nvPicPr>
          <p:cNvPr id="24" name="Image 5" descr="/home/claude/build/icon_cache/badge_FaTriangleExclamation_FFFFFF_E4572E_512_0.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74904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95160" y="367588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— The URL is not netflix.com. Smishing attacks often use look-alike domains with words like “secure” or “update” to seem credible.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Phishing Defense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knowledge into practice with this step-by-step implementation timeline for individuals and teams.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85900" y="2674620"/>
            <a:ext cx="6117336" cy="0"/>
          </a:xfrm>
          <a:prstGeom prst="line">
            <a:avLst/>
          </a:prstGeom>
          <a:noFill/>
          <a:ln w="25400">
            <a:solidFill>
              <a:srgbClr val="1F4A52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home/claude/build/icon_cache/badge_FaMagnifyingGlass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Audit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9718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email filters, enable MFA on all critical accounts, and bookmark official sites you use regularly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87752" y="169164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build/icon_cache/badge_FaChalkboardUser_02C39A_028090_512_0.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2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Train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697480" y="29718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module with your team, run a simulated phishing drill, and establish a clear reporting process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26864" y="169164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/home/claude/build/icon_cache/badge_FaShieldHalved_02C39A_028090_512_0.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804" y="19202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Harden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736592" y="29718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reputable anti-phishing browser extension, update all passwords using a password manager, and review app permissions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665976" y="169164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53338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/home/claude/build/icon_cache/badge_FaEye_02C39A_028090_512_0.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916" y="19202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75704" y="26060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Vigilance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775704" y="29718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threat intelligence updates, repeat phishing simulations quarterly, and report every suspicious message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48640" y="388620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1B3E44"/>
          </a:solidFill>
          <a:ln/>
        </p:spPr>
      </p:sp>
      <p:sp>
        <p:nvSpPr>
          <p:cNvPr id="23" name="Text 17"/>
          <p:cNvSpPr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1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not a one-time task — it’s an ongoing habit. Stay curious, stay skeptical, and when in doubt, verify.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pic>
        <p:nvPicPr>
          <p:cNvPr id="3" name="Image 0" descr="/home/claude/build/icon_cache/badge_FaShieldHalved_02C39A_028090_512_0.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0292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508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Safe. Stay Skeptical.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25146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equipped to recognize phishing emails, identify fake websites, understand social engineering tactics, and take action to protect yourself and your organization.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53338"/>
          </a:solidFill>
          <a:ln/>
        </p:spPr>
      </p:sp>
      <p:pic>
        <p:nvPicPr>
          <p:cNvPr id="8" name="Image 1" descr="/home/claude/build/icon_cache/badge_FaEnvelopeOpenText_FFFFFF_028090_512_0.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021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465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13232" y="3959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reportphishing@apwg.org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9184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53338"/>
          </a:solidFill>
          <a:ln/>
        </p:spPr>
      </p:sp>
      <p:pic>
        <p:nvPicPr>
          <p:cNvPr id="12" name="Image 2" descr="/home/claude/build/icon_cache/badge_FaBell_FFFFFF_028090_512_0.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35021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3465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Updated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456432" y="3959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CISA &amp; NCSC advisories for the latest threat alerts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3504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53338"/>
          </a:solidFill>
          <a:ln/>
        </p:spPr>
      </p:sp>
      <p:pic>
        <p:nvPicPr>
          <p:cNvPr id="16" name="Image 3" descr="/home/claude/build/icon_cache/badge_FaBullhorn_FFFFFF_028090_512_0.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50215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3465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Awareness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199632" y="3959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module with colleagues, friends, and family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don’t click. Verify first.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</dc:title>
  <dc:subject>PptxGenJS Presentation</dc:subject>
  <dc:creator>Cybersecurity Awareness</dc:creator>
  <cp:lastModifiedBy>Cybersecurity Awareness</cp:lastModifiedBy>
  <cp:revision>1</cp:revision>
  <dcterms:created xsi:type="dcterms:W3CDTF">2026-07-07T06:53:48Z</dcterms:created>
  <dcterms:modified xsi:type="dcterms:W3CDTF">2026-07-07T06:53:48Z</dcterms:modified>
</cp:coreProperties>
</file>